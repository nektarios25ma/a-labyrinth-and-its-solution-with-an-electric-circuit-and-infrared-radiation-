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559675" cy="10691813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3AC8ACB-AC3D-4132-8717-4A7172F0E9C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33EBD8D-3969-424F-BF41-D3CA585BEE6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FE41D2D-1BB8-4425-8B39-B1653FCD512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4E32DC6-39A3-4756-A49D-20A59191553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009CF7B-CA41-456A-B062-8ED0D9B5744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BC52487-915D-467F-99D4-4556ED3D61A6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4D24FE7-CCA6-42E5-82BC-7F7F3A83A75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0EC3854-FC9B-4ED6-B23D-7806F026D1A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7007A6B-0CAC-4607-BD7B-3A162107206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F15D1A2-4DAA-4AAA-9829-076269862687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B9A44EC-02DE-4AD4-AF82-8AE067F89AB2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A14CE4F-1A31-4FFF-B144-C7F077EF0421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11C3FFC-A10B-4706-9A81-A93B65A88CC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8E8B0B4-0184-4C15-AA79-74391A1283B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3BE4231-4353-4140-B3B1-1D36A79E69A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83DBDB1-004B-454F-9C31-6293CD6DAD7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7110B93-F200-4D3B-8647-2347ACEB2F6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8C5332E-7E52-411E-9175-75933966B35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A2E9C56-86FB-4C66-A416-A426B7C4157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8D23B2C-9837-4E29-B96E-F9F21C73A3E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F98AAC5-DD58-44BD-BD48-D58C9319AD7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DB382AC-5A3E-4091-ABE0-C5754326278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6B740C0-598C-47F3-B5E0-81A727C962DD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l-G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l-G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2B871ED-A4E9-4E94-AC9F-54257AB88465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2" descr="\\DROBO-FS\QuickDrops\JB\PPTX NG\Droplets\LightingOverlay.png"/>
          <p:cNvPicPr/>
          <p:nvPr/>
        </p:nvPicPr>
        <p:blipFill>
          <a:blip r:embed="rId15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 w="0">
            <a:noFill/>
          </a:ln>
        </p:spPr>
      </p:pic>
      <p:grpSp>
        <p:nvGrpSpPr>
          <p:cNvPr id="103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2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3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5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6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7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8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9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0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1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2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3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8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9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0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1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2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3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4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5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6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7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8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29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30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31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2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3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4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5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6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7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8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39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40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pic>
        <p:nvPicPr>
          <p:cNvPr id="41" name="Picture 2" descr="\\DROBO-FS\QuickDrops\JB\PPTX NG\Droplets\LightingOverlay.png"/>
          <p:cNvPicPr/>
          <p:nvPr/>
        </p:nvPicPr>
        <p:blipFill>
          <a:blip r:embed="rId15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 w="0">
            <a:noFill/>
          </a:ln>
        </p:spPr>
      </p:pic>
      <p:grpSp>
        <p:nvGrpSpPr>
          <p:cNvPr id="42" name="Group 10"/>
          <p:cNvGrpSpPr/>
          <p:nvPr/>
        </p:nvGrpSpPr>
        <p:grpSpPr>
          <a:xfrm>
            <a:off x="0" y="0"/>
            <a:ext cx="2304360" cy="6857280"/>
            <a:chOff x="0" y="0"/>
            <a:chExt cx="2304360" cy="6857280"/>
          </a:xfrm>
        </p:grpSpPr>
        <p:sp>
          <p:nvSpPr>
            <p:cNvPr id="43" name="Rectangle 5"/>
            <p:cNvSpPr/>
            <p:nvPr/>
          </p:nvSpPr>
          <p:spPr>
            <a:xfrm>
              <a:off x="1209600" y="4680"/>
              <a:ext cx="23040" cy="218052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4" name="Freeform 6"/>
            <p:cNvSpPr/>
            <p:nvPr/>
          </p:nvSpPr>
          <p:spPr>
            <a:xfrm>
              <a:off x="1128600" y="217656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5" name="Freeform 7"/>
            <p:cNvSpPr/>
            <p:nvPr/>
          </p:nvSpPr>
          <p:spPr>
            <a:xfrm>
              <a:off x="1123920" y="402120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6" name="Rectangle 8"/>
            <p:cNvSpPr/>
            <p:nvPr/>
          </p:nvSpPr>
          <p:spPr>
            <a:xfrm>
              <a:off x="414360" y="9360"/>
              <a:ext cx="27720" cy="448092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7" name="Freeform 9"/>
            <p:cNvSpPr/>
            <p:nvPr/>
          </p:nvSpPr>
          <p:spPr>
            <a:xfrm>
              <a:off x="333360" y="448164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8" name="Freeform 10"/>
            <p:cNvSpPr/>
            <p:nvPr/>
          </p:nvSpPr>
          <p:spPr>
            <a:xfrm>
              <a:off x="190440" y="9360"/>
              <a:ext cx="151560" cy="907200"/>
            </a:xfrm>
            <a:custGeom>
              <a:avLst/>
              <a:gdLst>
                <a:gd name="textAreaLeft" fmla="*/ 0 w 151560"/>
                <a:gd name="textAreaRight" fmla="*/ 152280 w 151560"/>
                <a:gd name="textAreaTop" fmla="*/ 0 h 907200"/>
                <a:gd name="textAreaBottom" fmla="*/ 907920 h 907200"/>
              </a:gdLst>
              <a:ahLst/>
              <a:cxn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9" name="Freeform 11"/>
            <p:cNvSpPr/>
            <p:nvPr/>
          </p:nvSpPr>
          <p:spPr>
            <a:xfrm>
              <a:off x="1290600" y="14400"/>
              <a:ext cx="375480" cy="1801080"/>
            </a:xfrm>
            <a:custGeom>
              <a:avLst/>
              <a:gdLst>
                <a:gd name="textAreaLeft" fmla="*/ 0 w 375480"/>
                <a:gd name="textAreaRight" fmla="*/ 376200 w 375480"/>
                <a:gd name="textAreaTop" fmla="*/ 0 h 1801080"/>
                <a:gd name="textAreaBottom" fmla="*/ 1801800 h 1801080"/>
              </a:gdLst>
              <a:ahLst/>
              <a:cxnLst/>
              <a:rect l="textAreaLeft" t="textAreaTop" r="textAreaRight" b="textAreaBottom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0" name="Freeform 12"/>
            <p:cNvSpPr/>
            <p:nvPr/>
          </p:nvSpPr>
          <p:spPr>
            <a:xfrm>
              <a:off x="1600200" y="180180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1" name="Freeform 13"/>
            <p:cNvSpPr/>
            <p:nvPr/>
          </p:nvSpPr>
          <p:spPr>
            <a:xfrm>
              <a:off x="1380960" y="9360"/>
              <a:ext cx="370800" cy="1424880"/>
            </a:xfrm>
            <a:custGeom>
              <a:avLst/>
              <a:gdLst>
                <a:gd name="textAreaLeft" fmla="*/ 0 w 370800"/>
                <a:gd name="textAreaRight" fmla="*/ 371520 w 370800"/>
                <a:gd name="textAreaTop" fmla="*/ 0 h 1424880"/>
                <a:gd name="textAreaBottom" fmla="*/ 1425600 h 1424880"/>
              </a:gdLst>
              <a:ahLst/>
              <a:cxnLst/>
              <a:rect l="textAreaLeft" t="textAreaTop" r="textAreaRight" b="textAreaBottom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2" name="Freeform 14"/>
            <p:cNvSpPr/>
            <p:nvPr/>
          </p:nvSpPr>
          <p:spPr>
            <a:xfrm>
              <a:off x="1643040" y="0"/>
              <a:ext cx="151560" cy="912240"/>
            </a:xfrm>
            <a:custGeom>
              <a:avLst/>
              <a:gdLst>
                <a:gd name="textAreaLeft" fmla="*/ 0 w 151560"/>
                <a:gd name="textAreaRight" fmla="*/ 152280 w 151560"/>
                <a:gd name="textAreaTop" fmla="*/ 0 h 912240"/>
                <a:gd name="textAreaBottom" fmla="*/ 912960 h 912240"/>
              </a:gdLst>
              <a:ahLst/>
              <a:cxn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3" name="Freeform 15"/>
            <p:cNvSpPr/>
            <p:nvPr/>
          </p:nvSpPr>
          <p:spPr>
            <a:xfrm>
              <a:off x="1685880" y="142092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4" name="Freeform 16"/>
            <p:cNvSpPr/>
            <p:nvPr/>
          </p:nvSpPr>
          <p:spPr>
            <a:xfrm>
              <a:off x="1685880" y="90324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5" name="Freeform 17"/>
            <p:cNvSpPr/>
            <p:nvPr/>
          </p:nvSpPr>
          <p:spPr>
            <a:xfrm>
              <a:off x="1743120" y="4680"/>
              <a:ext cx="418320" cy="521640"/>
            </a:xfrm>
            <a:custGeom>
              <a:avLst/>
              <a:gdLst>
                <a:gd name="textAreaLeft" fmla="*/ 0 w 418320"/>
                <a:gd name="textAreaRight" fmla="*/ 419040 w 418320"/>
                <a:gd name="textAreaTop" fmla="*/ 0 h 521640"/>
                <a:gd name="textAreaBottom" fmla="*/ 522360 h 521640"/>
              </a:gdLst>
              <a:ahLst/>
              <a:cxnLst/>
              <a:rect l="textAreaLeft" t="textAreaTop" r="textAreaRight" b="textAreaBottom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6" name="Freeform 18"/>
            <p:cNvSpPr/>
            <p:nvPr/>
          </p:nvSpPr>
          <p:spPr>
            <a:xfrm>
              <a:off x="2119320" y="488880"/>
              <a:ext cx="161280" cy="14688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6880"/>
                <a:gd name="textAreaBottom" fmla="*/ 147600 h 146880"/>
              </a:gdLst>
              <a:ahLst/>
              <a:cxn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7" name="Freeform 19"/>
            <p:cNvSpPr/>
            <p:nvPr/>
          </p:nvSpPr>
          <p:spPr>
            <a:xfrm>
              <a:off x="952560" y="4680"/>
              <a:ext cx="151560" cy="907200"/>
            </a:xfrm>
            <a:custGeom>
              <a:avLst/>
              <a:gdLst>
                <a:gd name="textAreaLeft" fmla="*/ 0 w 151560"/>
                <a:gd name="textAreaRight" fmla="*/ 152280 w 151560"/>
                <a:gd name="textAreaTop" fmla="*/ 0 h 907200"/>
                <a:gd name="textAreaBottom" fmla="*/ 907920 h 907200"/>
              </a:gdLst>
              <a:ahLst/>
              <a:cxn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8" name="Freeform 20"/>
            <p:cNvSpPr/>
            <p:nvPr/>
          </p:nvSpPr>
          <p:spPr>
            <a:xfrm>
              <a:off x="866880" y="90324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9" name="Freeform 21"/>
            <p:cNvSpPr/>
            <p:nvPr/>
          </p:nvSpPr>
          <p:spPr>
            <a:xfrm>
              <a:off x="890640" y="155412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0" name="Freeform 22"/>
            <p:cNvSpPr/>
            <p:nvPr/>
          </p:nvSpPr>
          <p:spPr>
            <a:xfrm>
              <a:off x="738360" y="5622840"/>
              <a:ext cx="337320" cy="1215360"/>
            </a:xfrm>
            <a:custGeom>
              <a:avLst/>
              <a:gdLst>
                <a:gd name="textAreaLeft" fmla="*/ 0 w 337320"/>
                <a:gd name="textAreaRight" fmla="*/ 338040 w 337320"/>
                <a:gd name="textAreaTop" fmla="*/ 0 h 1215360"/>
                <a:gd name="textAreaBottom" fmla="*/ 1216080 h 1215360"/>
              </a:gdLst>
              <a:ahLst/>
              <a:cxnLst/>
              <a:rect l="textAreaLeft" t="textAreaTop" r="textAreaRight" b="textAreaBottom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1" name="Freeform 23"/>
            <p:cNvSpPr/>
            <p:nvPr/>
          </p:nvSpPr>
          <p:spPr>
            <a:xfrm>
              <a:off x="647640" y="5479920"/>
              <a:ext cx="156600" cy="156600"/>
            </a:xfrm>
            <a:custGeom>
              <a:avLst/>
              <a:gdLst>
                <a:gd name="textAreaLeft" fmla="*/ 0 w 156600"/>
                <a:gd name="textAreaRight" fmla="*/ 157320 w 156600"/>
                <a:gd name="textAreaTop" fmla="*/ 0 h 156600"/>
                <a:gd name="textAreaBottom" fmla="*/ 157320 h 156600"/>
              </a:gdLst>
              <a:ahLst/>
              <a:cxn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2" name="Freeform 24"/>
            <p:cNvSpPr/>
            <p:nvPr/>
          </p:nvSpPr>
          <p:spPr>
            <a:xfrm>
              <a:off x="66600" y="90324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3" name="Freeform 25"/>
            <p:cNvSpPr/>
            <p:nvPr/>
          </p:nvSpPr>
          <p:spPr>
            <a:xfrm>
              <a:off x="0" y="3897360"/>
              <a:ext cx="132480" cy="266040"/>
            </a:xfrm>
            <a:custGeom>
              <a:avLst/>
              <a:gdLst>
                <a:gd name="textAreaLeft" fmla="*/ 0 w 132480"/>
                <a:gd name="textAreaRight" fmla="*/ 133200 w 132480"/>
                <a:gd name="textAreaTop" fmla="*/ 0 h 266040"/>
                <a:gd name="textAreaBottom" fmla="*/ 266760 h 266040"/>
              </a:gdLst>
              <a:ahLst/>
              <a:cxnLst/>
              <a:rect l="textAreaLeft" t="textAreaTop" r="textAreaRight" b="textAreaBottom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4" name="Freeform 26"/>
            <p:cNvSpPr/>
            <p:nvPr/>
          </p:nvSpPr>
          <p:spPr>
            <a:xfrm>
              <a:off x="66600" y="414972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5" name="Freeform 27"/>
            <p:cNvSpPr/>
            <p:nvPr/>
          </p:nvSpPr>
          <p:spPr>
            <a:xfrm>
              <a:off x="0" y="1644480"/>
              <a:ext cx="132480" cy="269280"/>
            </a:xfrm>
            <a:custGeom>
              <a:avLst/>
              <a:gdLst>
                <a:gd name="textAreaLeft" fmla="*/ 0 w 132480"/>
                <a:gd name="textAreaRight" fmla="*/ 133200 w 132480"/>
                <a:gd name="textAreaTop" fmla="*/ 0 h 269280"/>
                <a:gd name="textAreaBottom" fmla="*/ 270000 h 269280"/>
              </a:gdLst>
              <a:ahLst/>
              <a:cxnLst/>
              <a:rect l="textAreaLeft" t="textAreaTop" r="textAreaRight" b="textAreaBottom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6" name="Freeform 28"/>
            <p:cNvSpPr/>
            <p:nvPr/>
          </p:nvSpPr>
          <p:spPr>
            <a:xfrm>
              <a:off x="66600" y="146844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7" name="Freeform 29"/>
            <p:cNvSpPr/>
            <p:nvPr/>
          </p:nvSpPr>
          <p:spPr>
            <a:xfrm>
              <a:off x="695160" y="4680"/>
              <a:ext cx="308880" cy="1558080"/>
            </a:xfrm>
            <a:custGeom>
              <a:avLst/>
              <a:gdLst>
                <a:gd name="textAreaLeft" fmla="*/ 0 w 308880"/>
                <a:gd name="textAreaRight" fmla="*/ 309600 w 308880"/>
                <a:gd name="textAreaTop" fmla="*/ 0 h 1558080"/>
                <a:gd name="textAreaBottom" fmla="*/ 1558800 h 1558080"/>
              </a:gdLst>
              <a:ahLst/>
              <a:cxnLst/>
              <a:rect l="textAreaLeft" t="textAreaTop" r="textAreaRight" b="textAreaBottom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8" name="Freeform 30"/>
            <p:cNvSpPr/>
            <p:nvPr/>
          </p:nvSpPr>
          <p:spPr>
            <a:xfrm>
              <a:off x="57240" y="488160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69" name="Freeform 31"/>
            <p:cNvSpPr/>
            <p:nvPr/>
          </p:nvSpPr>
          <p:spPr>
            <a:xfrm>
              <a:off x="138240" y="5060880"/>
              <a:ext cx="304200" cy="1777320"/>
            </a:xfrm>
            <a:custGeom>
              <a:avLst/>
              <a:gdLst>
                <a:gd name="textAreaLeft" fmla="*/ 0 w 304200"/>
                <a:gd name="textAreaRight" fmla="*/ 304920 w 304200"/>
                <a:gd name="textAreaTop" fmla="*/ 0 h 1777320"/>
                <a:gd name="textAreaBottom" fmla="*/ 1778040 h 1777320"/>
              </a:gdLst>
              <a:ahLst/>
              <a:cxnLst/>
              <a:rect l="textAreaLeft" t="textAreaTop" r="textAreaRight" b="textAreaBottom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0" name="Freeform 32"/>
            <p:cNvSpPr/>
            <p:nvPr/>
          </p:nvSpPr>
          <p:spPr>
            <a:xfrm>
              <a:off x="561960" y="643104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1" name="Rectangle 33"/>
            <p:cNvSpPr/>
            <p:nvPr/>
          </p:nvSpPr>
          <p:spPr>
            <a:xfrm>
              <a:off x="642960" y="6610320"/>
              <a:ext cx="23040" cy="24228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2" name="Freeform 34"/>
            <p:cNvSpPr/>
            <p:nvPr/>
          </p:nvSpPr>
          <p:spPr>
            <a:xfrm>
              <a:off x="76320" y="643104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3" name="Freeform 35"/>
            <p:cNvSpPr/>
            <p:nvPr/>
          </p:nvSpPr>
          <p:spPr>
            <a:xfrm>
              <a:off x="0" y="5978520"/>
              <a:ext cx="189720" cy="46116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461160"/>
                <a:gd name="textAreaBottom" fmla="*/ 461880 h 461160"/>
              </a:gdLst>
              <a:ahLst/>
              <a:cxnLst/>
              <a:rect l="textAreaLeft" t="textAreaTop" r="textAreaRight" b="textAreaBottom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4" name="Freeform 36"/>
            <p:cNvSpPr/>
            <p:nvPr/>
          </p:nvSpPr>
          <p:spPr>
            <a:xfrm>
              <a:off x="1014480" y="1801800"/>
              <a:ext cx="213480" cy="754920"/>
            </a:xfrm>
            <a:custGeom>
              <a:avLst/>
              <a:gdLst>
                <a:gd name="textAreaLeft" fmla="*/ 0 w 213480"/>
                <a:gd name="textAreaRight" fmla="*/ 214200 w 213480"/>
                <a:gd name="textAreaTop" fmla="*/ 0 h 754920"/>
                <a:gd name="textAreaBottom" fmla="*/ 755640 h 754920"/>
              </a:gdLst>
              <a:ahLst/>
              <a:cxnLst/>
              <a:rect l="textAreaLeft" t="textAreaTop" r="textAreaRight" b="textAreaBottom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5" name="Freeform 37"/>
            <p:cNvSpPr/>
            <p:nvPr/>
          </p:nvSpPr>
          <p:spPr>
            <a:xfrm>
              <a:off x="938160" y="2548080"/>
              <a:ext cx="165960" cy="159480"/>
            </a:xfrm>
            <a:custGeom>
              <a:avLst/>
              <a:gdLst>
                <a:gd name="textAreaLeft" fmla="*/ 0 w 165960"/>
                <a:gd name="textAreaRight" fmla="*/ 166680 w 165960"/>
                <a:gd name="textAreaTop" fmla="*/ 0 h 159480"/>
                <a:gd name="textAreaBottom" fmla="*/ 160200 h 159480"/>
              </a:gdLst>
              <a:ahLst/>
              <a:cxnLst/>
              <a:rect l="textAreaLeft" t="textAreaTop" r="textAreaRight" b="textAreaBottom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6" name="Freeform 38"/>
            <p:cNvSpPr/>
            <p:nvPr/>
          </p:nvSpPr>
          <p:spPr>
            <a:xfrm>
              <a:off x="595440" y="4680"/>
              <a:ext cx="637560" cy="4025160"/>
            </a:xfrm>
            <a:custGeom>
              <a:avLst/>
              <a:gdLst>
                <a:gd name="textAreaLeft" fmla="*/ 0 w 637560"/>
                <a:gd name="textAreaRight" fmla="*/ 638280 w 637560"/>
                <a:gd name="textAreaTop" fmla="*/ 0 h 4025160"/>
                <a:gd name="textAreaBottom" fmla="*/ 4025880 h 4025160"/>
              </a:gdLst>
              <a:ahLst/>
              <a:cxnLst/>
              <a:rect l="textAreaLeft" t="textAreaTop" r="textAreaRight" b="textAreaBottom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7" name="Freeform 39"/>
            <p:cNvSpPr/>
            <p:nvPr/>
          </p:nvSpPr>
          <p:spPr>
            <a:xfrm>
              <a:off x="1224000" y="1382760"/>
              <a:ext cx="142200" cy="47556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475560"/>
                <a:gd name="textAreaBottom" fmla="*/ 476280 h 475560"/>
              </a:gdLst>
              <a:ahLst/>
              <a:cxn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8" name="Freeform 40"/>
            <p:cNvSpPr/>
            <p:nvPr/>
          </p:nvSpPr>
          <p:spPr>
            <a:xfrm>
              <a:off x="1300320" y="1849320"/>
              <a:ext cx="108720" cy="107280"/>
            </a:xfrm>
            <a:custGeom>
              <a:avLst/>
              <a:gdLst>
                <a:gd name="textAreaLeft" fmla="*/ 0 w 108720"/>
                <a:gd name="textAreaRight" fmla="*/ 109440 w 108720"/>
                <a:gd name="textAreaTop" fmla="*/ 0 h 107280"/>
                <a:gd name="textAreaBottom" fmla="*/ 108000 h 10728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9" name="Freeform 41"/>
            <p:cNvSpPr/>
            <p:nvPr/>
          </p:nvSpPr>
          <p:spPr>
            <a:xfrm>
              <a:off x="281160" y="3417840"/>
              <a:ext cx="142200" cy="474120"/>
            </a:xfrm>
            <a:custGeom>
              <a:avLst/>
              <a:gdLst>
                <a:gd name="textAreaLeft" fmla="*/ 0 w 142200"/>
                <a:gd name="textAreaRight" fmla="*/ 142920 w 142200"/>
                <a:gd name="textAreaTop" fmla="*/ 0 h 474120"/>
                <a:gd name="textAreaBottom" fmla="*/ 474840 h 474120"/>
              </a:gdLst>
              <a:ahLst/>
              <a:cxnLst/>
              <a:rect l="textAreaLeft" t="textAreaTop" r="textAreaRight" b="textAreaBottom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0" name="Freeform 42"/>
            <p:cNvSpPr/>
            <p:nvPr/>
          </p:nvSpPr>
          <p:spPr>
            <a:xfrm>
              <a:off x="237960" y="3882960"/>
              <a:ext cx="108720" cy="108720"/>
            </a:xfrm>
            <a:custGeom>
              <a:avLst/>
              <a:gdLst>
                <a:gd name="textAreaLeft" fmla="*/ 0 w 108720"/>
                <a:gd name="textAreaRight" fmla="*/ 109440 w 108720"/>
                <a:gd name="textAreaTop" fmla="*/ 0 h 108720"/>
                <a:gd name="textAreaBottom" fmla="*/ 109440 h 10872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1" name="Freeform 43"/>
            <p:cNvSpPr/>
            <p:nvPr/>
          </p:nvSpPr>
          <p:spPr>
            <a:xfrm>
              <a:off x="4680" y="2166840"/>
              <a:ext cx="113760" cy="451800"/>
            </a:xfrm>
            <a:custGeom>
              <a:avLst/>
              <a:gdLst>
                <a:gd name="textAreaLeft" fmla="*/ 0 w 113760"/>
                <a:gd name="textAreaRight" fmla="*/ 114480 w 113760"/>
                <a:gd name="textAreaTop" fmla="*/ 0 h 451800"/>
                <a:gd name="textAreaBottom" fmla="*/ 452520 h 451800"/>
              </a:gdLst>
              <a:ahLst/>
              <a:cxnLst/>
              <a:rect l="textAreaLeft" t="textAreaTop" r="textAreaRight" b="textAreaBottom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2" name="Freeform 44"/>
            <p:cNvSpPr/>
            <p:nvPr/>
          </p:nvSpPr>
          <p:spPr>
            <a:xfrm>
              <a:off x="52560" y="2066760"/>
              <a:ext cx="108720" cy="108720"/>
            </a:xfrm>
            <a:custGeom>
              <a:avLst/>
              <a:gdLst>
                <a:gd name="textAreaLeft" fmla="*/ 0 w 108720"/>
                <a:gd name="textAreaRight" fmla="*/ 109440 w 108720"/>
                <a:gd name="textAreaTop" fmla="*/ 0 h 108720"/>
                <a:gd name="textAreaBottom" fmla="*/ 109440 h 10872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3" name="Rectangle 45"/>
            <p:cNvSpPr/>
            <p:nvPr/>
          </p:nvSpPr>
          <p:spPr>
            <a:xfrm>
              <a:off x="1228680" y="4662360"/>
              <a:ext cx="23040" cy="2180520"/>
            </a:xfrm>
            <a:prstGeom prst="rect">
              <a:avLst/>
            </a:pr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4" name="Freeform 46"/>
            <p:cNvSpPr/>
            <p:nvPr/>
          </p:nvSpPr>
          <p:spPr>
            <a:xfrm>
              <a:off x="1319040" y="5041800"/>
              <a:ext cx="370800" cy="1801080"/>
            </a:xfrm>
            <a:custGeom>
              <a:avLst/>
              <a:gdLst>
                <a:gd name="textAreaLeft" fmla="*/ 0 w 370800"/>
                <a:gd name="textAreaRight" fmla="*/ 371520 w 370800"/>
                <a:gd name="textAreaTop" fmla="*/ 0 h 1801080"/>
                <a:gd name="textAreaBottom" fmla="*/ 1801800 h 1801080"/>
              </a:gdLst>
              <a:ahLst/>
              <a:cxnLst/>
              <a:rect l="textAreaLeft" t="textAreaTop" r="textAreaRight" b="textAreaBottom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5" name="Freeform 47"/>
            <p:cNvSpPr/>
            <p:nvPr/>
          </p:nvSpPr>
          <p:spPr>
            <a:xfrm>
              <a:off x="1147680" y="448164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6" name="Freeform 48"/>
            <p:cNvSpPr/>
            <p:nvPr/>
          </p:nvSpPr>
          <p:spPr>
            <a:xfrm>
              <a:off x="819000" y="3983040"/>
              <a:ext cx="347040" cy="2859840"/>
            </a:xfrm>
            <a:custGeom>
              <a:avLst/>
              <a:gdLst>
                <a:gd name="textAreaLeft" fmla="*/ 0 w 347040"/>
                <a:gd name="textAreaRight" fmla="*/ 347760 w 347040"/>
                <a:gd name="textAreaTop" fmla="*/ 0 h 2859840"/>
                <a:gd name="textAreaBottom" fmla="*/ 2860560 h 2859840"/>
              </a:gdLst>
              <a:ahLst/>
              <a:cxnLst/>
              <a:rect l="textAreaLeft" t="textAreaTop" r="textAreaRight" b="textAreaBottom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7" name="Freeform 49"/>
            <p:cNvSpPr/>
            <p:nvPr/>
          </p:nvSpPr>
          <p:spPr>
            <a:xfrm>
              <a:off x="728640" y="380700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8" name="Freeform 50"/>
            <p:cNvSpPr/>
            <p:nvPr/>
          </p:nvSpPr>
          <p:spPr>
            <a:xfrm>
              <a:off x="1623960" y="4867200"/>
              <a:ext cx="189720" cy="18828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8280"/>
                <a:gd name="textAreaBottom" fmla="*/ 189000 h 1882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89" name="Freeform 51"/>
            <p:cNvSpPr/>
            <p:nvPr/>
          </p:nvSpPr>
          <p:spPr>
            <a:xfrm>
              <a:off x="1405080" y="5423040"/>
              <a:ext cx="370800" cy="1424880"/>
            </a:xfrm>
            <a:custGeom>
              <a:avLst/>
              <a:gdLst>
                <a:gd name="textAreaLeft" fmla="*/ 0 w 370800"/>
                <a:gd name="textAreaRight" fmla="*/ 371520 w 370800"/>
                <a:gd name="textAreaTop" fmla="*/ 0 h 1424880"/>
                <a:gd name="textAreaBottom" fmla="*/ 1425600 h 1424880"/>
              </a:gdLst>
              <a:ahLst/>
              <a:cxnLst/>
              <a:rect l="textAreaLeft" t="textAreaTop" r="textAreaRight" b="textAreaBottom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0" name="Freeform 52"/>
            <p:cNvSpPr/>
            <p:nvPr/>
          </p:nvSpPr>
          <p:spPr>
            <a:xfrm>
              <a:off x="1666800" y="5945040"/>
              <a:ext cx="151560" cy="912240"/>
            </a:xfrm>
            <a:custGeom>
              <a:avLst/>
              <a:gdLst>
                <a:gd name="textAreaLeft" fmla="*/ 0 w 151560"/>
                <a:gd name="textAreaRight" fmla="*/ 152280 w 151560"/>
                <a:gd name="textAreaTop" fmla="*/ 0 h 912240"/>
                <a:gd name="textAreaBottom" fmla="*/ 912960 h 912240"/>
              </a:gdLst>
              <a:ahLst/>
              <a:cxn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1" name="Freeform 53"/>
            <p:cNvSpPr/>
            <p:nvPr/>
          </p:nvSpPr>
          <p:spPr>
            <a:xfrm>
              <a:off x="1709640" y="524664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2" name="Freeform 54"/>
            <p:cNvSpPr/>
            <p:nvPr/>
          </p:nvSpPr>
          <p:spPr>
            <a:xfrm>
              <a:off x="1709640" y="5764320"/>
              <a:ext cx="189720" cy="189720"/>
            </a:xfrm>
            <a:custGeom>
              <a:avLst/>
              <a:gdLst>
                <a:gd name="textAreaLeft" fmla="*/ 0 w 189720"/>
                <a:gd name="textAreaRight" fmla="*/ 190440 w 189720"/>
                <a:gd name="textAreaTop" fmla="*/ 0 h 189720"/>
                <a:gd name="textAreaBottom" fmla="*/ 190440 h 18972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3" name="Freeform 55"/>
            <p:cNvSpPr/>
            <p:nvPr/>
          </p:nvSpPr>
          <p:spPr>
            <a:xfrm>
              <a:off x="1766880" y="6330960"/>
              <a:ext cx="418320" cy="526320"/>
            </a:xfrm>
            <a:custGeom>
              <a:avLst/>
              <a:gdLst>
                <a:gd name="textAreaLeft" fmla="*/ 0 w 418320"/>
                <a:gd name="textAreaRight" fmla="*/ 419040 w 418320"/>
                <a:gd name="textAreaTop" fmla="*/ 0 h 526320"/>
                <a:gd name="textAreaBottom" fmla="*/ 527040 h 526320"/>
              </a:gdLst>
              <a:ahLst/>
              <a:cxnLst/>
              <a:rect l="textAreaLeft" t="textAreaTop" r="textAreaRight" b="textAreaBottom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4" name="Freeform 56"/>
            <p:cNvSpPr/>
            <p:nvPr/>
          </p:nvSpPr>
          <p:spPr>
            <a:xfrm>
              <a:off x="2147760" y="6221520"/>
              <a:ext cx="156600" cy="146880"/>
            </a:xfrm>
            <a:custGeom>
              <a:avLst/>
              <a:gdLst>
                <a:gd name="textAreaLeft" fmla="*/ 0 w 156600"/>
                <a:gd name="textAreaRight" fmla="*/ 157320 w 156600"/>
                <a:gd name="textAreaTop" fmla="*/ 0 h 146880"/>
                <a:gd name="textAreaBottom" fmla="*/ 147600 h 146880"/>
              </a:gdLst>
              <a:ahLst/>
              <a:cxn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5" name="Freeform 57"/>
            <p:cNvSpPr/>
            <p:nvPr/>
          </p:nvSpPr>
          <p:spPr>
            <a:xfrm>
              <a:off x="504720" y="9360"/>
              <a:ext cx="232560" cy="5103000"/>
            </a:xfrm>
            <a:custGeom>
              <a:avLst/>
              <a:gdLst>
                <a:gd name="textAreaLeft" fmla="*/ 0 w 232560"/>
                <a:gd name="textAreaRight" fmla="*/ 233280 w 232560"/>
                <a:gd name="textAreaTop" fmla="*/ 0 h 5103000"/>
                <a:gd name="textAreaBottom" fmla="*/ 5103720 h 5103000"/>
              </a:gdLst>
              <a:ahLst/>
              <a:cxnLst/>
              <a:rect l="textAreaLeft" t="textAreaTop" r="textAreaRight" b="textAreaBottom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96" name="Freeform 58"/>
            <p:cNvSpPr/>
            <p:nvPr/>
          </p:nvSpPr>
          <p:spPr>
            <a:xfrm>
              <a:off x="633240" y="5103720"/>
              <a:ext cx="185040" cy="185040"/>
            </a:xfrm>
            <a:custGeom>
              <a:avLst/>
              <a:gdLst>
                <a:gd name="textAreaLeft" fmla="*/ 0 w 185040"/>
                <a:gd name="textAreaRight" fmla="*/ 185760 w 185040"/>
                <a:gd name="textAreaTop" fmla="*/ 0 h 185040"/>
                <a:gd name="textAreaBottom" fmla="*/ 185760 h 185040"/>
              </a:gdLst>
              <a:ahLst/>
              <a:cxnLst/>
              <a:rect l="textAreaLeft" t="textAreaTop" r="textAreaRight" b="textAreaBottom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82FFFF"/>
                </a:gs>
                <a:gs pos="100000">
                  <a:srgbClr val="3D97DE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l-GR" sz="1800" b="0" strike="noStrike" spc="-1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l-GR" sz="1800" b="0" strike="noStrike" spc="-1">
                <a:solidFill>
                  <a:srgbClr val="000000"/>
                </a:solidFill>
                <a:latin typeface="Arial"/>
              </a:rPr>
              <a:t>Πατήστε για επεξεργασία της μορφής κειμένου του τίτλου</a:t>
            </a:r>
          </a:p>
        </p:txBody>
      </p:sp>
      <p:sp>
        <p:nvSpPr>
          <p:cNvPr id="98" name="PlaceHolder 2"/>
          <p:cNvSpPr>
            <a:spLocks noGrp="1"/>
          </p:cNvSpPr>
          <p:nvPr>
            <p:ph type="ftr" idx="1"/>
          </p:nvPr>
        </p:nvSpPr>
        <p:spPr>
          <a:xfrm>
            <a:off x="1876320" y="5410080"/>
            <a:ext cx="512424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l-G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-GR" sz="1400" b="0" strike="noStrike" spc="-1">
                <a:solidFill>
                  <a:srgbClr val="000000"/>
                </a:solidFill>
                <a:latin typeface="Times New Roman"/>
              </a:rPr>
              <a:t>&lt;υποσέλιδο&gt;</a:t>
            </a:r>
          </a:p>
        </p:txBody>
      </p:sp>
      <p:sp>
        <p:nvSpPr>
          <p:cNvPr id="99" name="PlaceHolder 3"/>
          <p:cNvSpPr>
            <a:spLocks noGrp="1"/>
          </p:cNvSpPr>
          <p:nvPr>
            <p:ph type="sldNum" idx="2"/>
          </p:nvPr>
        </p:nvSpPr>
        <p:spPr>
          <a:xfrm>
            <a:off x="9896760" y="541008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50" b="0" strike="noStrike" spc="-1">
                <a:solidFill>
                  <a:srgbClr val="FFFFFF"/>
                </a:solidFill>
                <a:latin typeface="Tw Cen M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E65F54A-ED9A-4358-98BC-1CA6DC6DCC8D}" type="slidenum">
              <a:rPr lang="en-US" sz="1050" b="0" strike="noStrike" spc="-1">
                <a:solidFill>
                  <a:srgbClr val="FFFFFF"/>
                </a:solidFill>
                <a:latin typeface="Tw Cen MT"/>
              </a:rPr>
              <a:t>‹#›</a:t>
            </a:fld>
            <a:endParaRPr lang="el-GR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dt" idx="3"/>
          </p:nvPr>
        </p:nvSpPr>
        <p:spPr>
          <a:xfrm>
            <a:off x="7077600" y="541008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l-G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l-GR" sz="1400" b="0" strike="noStrike" spc="-1">
                <a:solidFill>
                  <a:srgbClr val="000000"/>
                </a:solidFill>
                <a:latin typeface="Times New Roman"/>
              </a:rPr>
              <a:t>&lt;ημερομηνία/ώρα&gt;</a:t>
            </a:r>
          </a:p>
        </p:txBody>
      </p:sp>
      <p:sp>
        <p:nvSpPr>
          <p:cNvPr id="10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l-GR" sz="3200" b="0" strike="noStrike" spc="-1">
                <a:solidFill>
                  <a:srgbClr val="000000"/>
                </a:solidFill>
                <a:latin typeface="Arial"/>
              </a:rPr>
              <a:t>Πατήστε για επεξεργασία της μορφής κειμένου διάρθρωσης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l-GR" sz="2800" b="0" strike="noStrike" spc="-1">
                <a:solidFill>
                  <a:srgbClr val="000000"/>
                </a:solidFill>
                <a:latin typeface="Arial"/>
              </a:rPr>
              <a:t>Δεύτερο επίπεδο διάρθρωσης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l-GR" sz="2400" b="0" strike="noStrike" spc="-1">
                <a:solidFill>
                  <a:srgbClr val="000000"/>
                </a:solidFill>
                <a:latin typeface="Arial"/>
              </a:rPr>
              <a:t>Τρίτο επίπεδο διάρθρωσης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l-GR" sz="2000" b="0" strike="noStrike" spc="-1">
                <a:solidFill>
                  <a:srgbClr val="000000"/>
                </a:solidFill>
                <a:latin typeface="Arial"/>
              </a:rPr>
              <a:t>Τέταρτο επίπεδο διάρθρωσης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l-GR" sz="2000" b="0" strike="noStrike" spc="-1">
                <a:solidFill>
                  <a:srgbClr val="000000"/>
                </a:solidFill>
                <a:latin typeface="Arial"/>
              </a:rPr>
              <a:t>Πέμπτο επίπεδο διάρθρωσης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l-GR" sz="2000" b="0" strike="noStrike" spc="-1">
                <a:solidFill>
                  <a:srgbClr val="000000"/>
                </a:solidFill>
                <a:latin typeface="Arial"/>
              </a:rPr>
              <a:t>Έκτο επίπεδο διάρθρωσης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l-GR" sz="2000" b="0" strike="noStrike" spc="-1">
                <a:solidFill>
                  <a:srgbClr val="000000"/>
                </a:solidFill>
                <a:latin typeface="Arial"/>
              </a:rPr>
              <a:t>Έβδομο επίπεδο διάρθρωσης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Picture 2" descr="\\DROBO-FS\QuickDrops\JB\PPTX NG\Droplets\LightingOverlay.png"/>
          <p:cNvPicPr/>
          <p:nvPr/>
        </p:nvPicPr>
        <p:blipFill>
          <a:blip r:embed="rId15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 w="0">
            <a:noFill/>
          </a:ln>
        </p:spPr>
      </p:pic>
      <p:grpSp>
        <p:nvGrpSpPr>
          <p:cNvPr id="139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140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141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2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3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4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5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6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7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8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49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0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1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2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3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4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5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6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7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8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59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0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1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2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3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4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5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6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67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/>
                  </a:gs>
                  <a:gs pos="100000">
                    <a:srgbClr val="3D97DE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  <p:grpSp>
          <p:nvGrpSpPr>
            <p:cNvPr id="168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169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0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1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2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3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4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5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6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7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  <p:sp>
            <p:nvSpPr>
              <p:cNvPr id="178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D97DE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el-GR" sz="1800" b="0" strike="noStrike" spc="-1">
                  <a:solidFill>
                    <a:srgbClr val="000000"/>
                  </a:solidFill>
                  <a:latin typeface="Arial"/>
                  <a:ea typeface="DejaVu Sans"/>
                </a:endParaRPr>
              </a:p>
            </p:txBody>
          </p:sp>
        </p:grpSp>
      </p:grpSp>
      <p:sp>
        <p:nvSpPr>
          <p:cNvPr id="179" name="PlaceHolder 1"/>
          <p:cNvSpPr>
            <a:spLocks noGrp="1"/>
          </p:cNvSpPr>
          <p:nvPr>
            <p:ph type="ftr" idx="4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l-G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-GR" sz="1400" b="0" strike="noStrike" spc="-1">
                <a:solidFill>
                  <a:srgbClr val="000000"/>
                </a:solidFill>
                <a:latin typeface="Times New Roman"/>
              </a:rPr>
              <a:t>&lt;υποσέλιδο&gt;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sldNum" idx="5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50" b="0" strike="noStrike" spc="-1">
                <a:solidFill>
                  <a:srgbClr val="FFFFFF"/>
                </a:solidFill>
                <a:latin typeface="Tw Cen M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064638D-1D6D-4F66-85FF-53CA98DE36A7}" type="slidenum">
              <a:rPr lang="en-US" sz="1050" b="0" strike="noStrike" spc="-1">
                <a:solidFill>
                  <a:srgbClr val="FFFFFF"/>
                </a:solidFill>
                <a:latin typeface="Tw Cen MT"/>
              </a:rPr>
              <a:t>‹#›</a:t>
            </a:fld>
            <a:endParaRPr lang="el-GR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dt" idx="6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l-G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l-GR" sz="1400" b="0" strike="noStrike" spc="-1">
                <a:solidFill>
                  <a:srgbClr val="000000"/>
                </a:solidFill>
                <a:latin typeface="Times New Roman"/>
              </a:rPr>
              <a:t>&lt;ημερομηνία/ώρα&gt;</a:t>
            </a:r>
          </a:p>
        </p:txBody>
      </p:sp>
      <p:sp>
        <p:nvSpPr>
          <p:cNvPr id="18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l-GR" sz="4400" b="0" strike="noStrike" spc="-1">
                <a:solidFill>
                  <a:srgbClr val="000000"/>
                </a:solidFill>
                <a:latin typeface="Arial"/>
              </a:rPr>
              <a:t>Πατήστε για επεξεργασία της μορφής κειμένου του τίτλου</a:t>
            </a:r>
          </a:p>
        </p:txBody>
      </p:sp>
      <p:sp>
        <p:nvSpPr>
          <p:cNvPr id="18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l-GR" sz="3200" b="0" strike="noStrike" spc="-1">
                <a:solidFill>
                  <a:srgbClr val="000000"/>
                </a:solidFill>
                <a:latin typeface="Arial"/>
              </a:rPr>
              <a:t>Πατήστε για επεξεργασία της μορφής κειμένου διάρθρωσης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l-GR" sz="2800" b="0" strike="noStrike" spc="-1">
                <a:solidFill>
                  <a:srgbClr val="000000"/>
                </a:solidFill>
                <a:latin typeface="Arial"/>
              </a:rPr>
              <a:t>Δεύτερο επίπεδο διάρθρωσης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l-GR" sz="2400" b="0" strike="noStrike" spc="-1">
                <a:solidFill>
                  <a:srgbClr val="000000"/>
                </a:solidFill>
                <a:latin typeface="Arial"/>
              </a:rPr>
              <a:t>Τρίτο επίπεδο διάρθρωσης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l-GR" sz="2000" b="0" strike="noStrike" spc="-1">
                <a:solidFill>
                  <a:srgbClr val="000000"/>
                </a:solidFill>
                <a:latin typeface="Arial"/>
              </a:rPr>
              <a:t>Τέταρτο επίπεδο διάρθρωσης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l-GR" sz="2000" b="0" strike="noStrike" spc="-1">
                <a:solidFill>
                  <a:srgbClr val="000000"/>
                </a:solidFill>
                <a:latin typeface="Arial"/>
              </a:rPr>
              <a:t>Πέμπτο επίπεδο διάρθρωσης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l-GR" sz="2000" b="0" strike="noStrike" spc="-1">
                <a:solidFill>
                  <a:srgbClr val="000000"/>
                </a:solidFill>
                <a:latin typeface="Arial"/>
              </a:rPr>
              <a:t>Έκτο επίπεδο διάρθρωσης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l-GR" sz="2000" b="0" strike="noStrike" spc="-1">
                <a:solidFill>
                  <a:srgbClr val="000000"/>
                </a:solidFill>
                <a:latin typeface="Arial"/>
              </a:rPr>
              <a:t>Έβδομο επίπεδο διάρθρωσης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Box 6"/>
          <p:cNvSpPr/>
          <p:nvPr/>
        </p:nvSpPr>
        <p:spPr>
          <a:xfrm>
            <a:off x="2151529" y="-120600"/>
            <a:ext cx="9941859" cy="31686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l-GR" sz="4000" b="1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ΤΙΤΛΟΣ ΕΡΓΑΣΙΑΣ</a:t>
            </a:r>
            <a:endParaRPr lang="el-GR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l-GR" sz="4000" b="1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Η υπέρυθρη ακτινοβολία ως εργαλείο μελέτης κυκλωμάτων και άλλα εργαλεία ανάλυσης τους</a:t>
            </a:r>
            <a:endParaRPr lang="el-GR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l-GR" sz="4000" b="1" strike="noStrike" spc="-1" dirty="0">
                <a:solidFill>
                  <a:srgbClr val="FFFF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ΓΕΛ ΝΕΑΣ ΚΥΔΩΝΙΑΣ</a:t>
            </a:r>
            <a:endParaRPr lang="el-GR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TextBox 7"/>
          <p:cNvSpPr/>
          <p:nvPr/>
        </p:nvSpPr>
        <p:spPr>
          <a:xfrm>
            <a:off x="2151529" y="3048045"/>
            <a:ext cx="10201835" cy="30455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l-GR" sz="32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ΕΡΓΟ ΤΩΝ ΜΑΘΗΤΡΙΩΝ: ΤΡΟΥΛΑΚΗ ΑΝΘΗ , ΤΣΑΚΙΡΗ ΑΜΑΝΤΑ , ΧΑΛΙΒΕΛΑΚΗ ΗΛΕΚΤΡΑ , ΠΑΠΑΘΕΟΦΑΝΟΥΣ ΧΡΥΣΟΥΛΑ, ΠΛΑΤΣΑΚΗ ΠΑΝΑΓΙΩΤΑ,ΣΙΝΑΝΗ ΚΩΝΣΤΑΝΤΙΝΑ,ΣΙΝΑΝΙ ΕΙΡΗΝΗ,ΝΤΟΥΚΑΚΗ</a:t>
            </a: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lang="el-GR" sz="32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ΠΑΝΑΓΙΩΤΑ,ΒΟΜΒΟΛΑΚΗ ΕΛΕΝΗ=&gt;ΟΜΑΔΑ ΛΑΒΥΡΙΝΘΟΣ</a:t>
            </a:r>
            <a:endParaRPr lang="el-G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Box 8"/>
          <p:cNvSpPr/>
          <p:nvPr/>
        </p:nvSpPr>
        <p:spPr>
          <a:xfrm>
            <a:off x="2151529" y="6494040"/>
            <a:ext cx="89967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l-GR" sz="1800" b="0" strike="noStrike" spc="-1" dirty="0">
                <a:solidFill>
                  <a:srgbClr val="FFFFFF"/>
                </a:solidFill>
                <a:latin typeface="Tw Cen MT"/>
                <a:ea typeface="DejaVu Sans"/>
              </a:rPr>
              <a:t>ΥΠΕΥΘΥΝΟΣ ΚΑΘΗΓΗΤΗΣ : ΚΟΥΡΑΚΗΣ ΝΕΚΤΑΡΙΟΣ</a:t>
            </a:r>
            <a:endParaRPr lang="el-G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Picture 2"/>
          <p:cNvPicPr/>
          <p:nvPr/>
        </p:nvPicPr>
        <p:blipFill>
          <a:blip r:embed="rId2"/>
          <a:stretch/>
        </p:blipFill>
        <p:spPr>
          <a:xfrm>
            <a:off x="2363760" y="-60480"/>
            <a:ext cx="6883200" cy="6917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5"/>
          <p:cNvSpPr/>
          <p:nvPr/>
        </p:nvSpPr>
        <p:spPr>
          <a:xfrm>
            <a:off x="1587240" y="155160"/>
            <a:ext cx="948816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l-GR" sz="1800" b="0" strike="noStrike" spc="-1" dirty="0">
                <a:solidFill>
                  <a:srgbClr val="FFFFFF"/>
                </a:solidFill>
                <a:latin typeface="Tw Cen MT"/>
                <a:ea typeface="DejaVu Sans"/>
              </a:rPr>
              <a:t>Παρουσιάζεται μία κατασκευή χαμηλού κόστους για τη διδασκαλία βασικών εννοιών του Ηλεκτρομαγνητισμού και της Ανάλυσης Κυκλωμάτων, με τη μορφή μινιατούρας λαβυρίνθου (23×23 cm). </a:t>
            </a:r>
            <a:endParaRPr lang="el-GR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l-G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Picture 6"/>
          <p:cNvPicPr/>
          <p:nvPr/>
        </p:nvPicPr>
        <p:blipFill>
          <a:blip r:embed="rId2"/>
          <a:stretch/>
        </p:blipFill>
        <p:spPr>
          <a:xfrm>
            <a:off x="3420000" y="1260000"/>
            <a:ext cx="6929280" cy="4327200"/>
          </a:xfrm>
          <a:prstGeom prst="rect">
            <a:avLst/>
          </a:prstGeom>
          <a:ln w="0">
            <a:noFill/>
          </a:ln>
        </p:spPr>
      </p:pic>
      <p:sp>
        <p:nvSpPr>
          <p:cNvPr id="226" name="TextBox 7"/>
          <p:cNvSpPr/>
          <p:nvPr/>
        </p:nvSpPr>
        <p:spPr>
          <a:xfrm>
            <a:off x="983520" y="1233720"/>
            <a:ext cx="2285640" cy="55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l-GR" sz="1800" b="0" strike="noStrike" spc="-1" dirty="0">
                <a:solidFill>
                  <a:srgbClr val="FFFFFF"/>
                </a:solidFill>
                <a:latin typeface="Tw Cen MT"/>
                <a:ea typeface="DejaVu Sans"/>
              </a:rPr>
              <a:t>Η διαδρομή του λαβυρίνθου υλοποιείται - διακλαδώνεται με σύρμα χρωμονικελίνης (NiCr) συνολικής αντίστασης ~22 Ω. Με τροφοδότηση συνεχούς τάσης 20 V αναπτύσσεται ισχύς Joule P=V²/R≈18 W πάνω στο σύρμα, με αποτέλεσμα  μετρήσιμη αύξηση θερμοκρασίας. </a:t>
            </a:r>
            <a:endParaRPr lang="el-G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Picture 6"/>
          <p:cNvPicPr/>
          <p:nvPr/>
        </p:nvPicPr>
        <p:blipFill>
          <a:blip r:embed="rId2"/>
          <a:stretch/>
        </p:blipFill>
        <p:spPr>
          <a:xfrm>
            <a:off x="3915000" y="0"/>
            <a:ext cx="8649000" cy="6857280"/>
          </a:xfrm>
          <a:prstGeom prst="rect">
            <a:avLst/>
          </a:prstGeom>
          <a:ln w="0">
            <a:noFill/>
          </a:ln>
        </p:spPr>
      </p:pic>
      <p:sp>
        <p:nvSpPr>
          <p:cNvPr id="228" name="TextBox 7"/>
          <p:cNvSpPr/>
          <p:nvPr/>
        </p:nvSpPr>
        <p:spPr>
          <a:xfrm>
            <a:off x="1091880" y="0"/>
            <a:ext cx="2955600" cy="648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l-GR" sz="2800" b="0" u="sng" strike="noStrike" spc="-1">
                <a:solidFill>
                  <a:srgbClr val="FFFFFF"/>
                </a:solidFill>
                <a:uFillTx/>
                <a:latin typeface="Times New Roman"/>
                <a:ea typeface="DejaVu Sans"/>
              </a:rPr>
              <a:t>Η «σωστή» διαδρομή του λαβυρίνθου οπτικοποιείται σε πραγματικό χρόνο μέσω υπέρυθρης κάμερας/θερμογράφου ή/και αισθητήρα υπερύθρων, προσφέροντας ισχυρό οπτικό ανάλογο της ροής ρεύματος</a:t>
            </a:r>
            <a:r>
              <a:rPr lang="el-GR" sz="2800" b="0" strike="noStrike" spc="-1">
                <a:solidFill>
                  <a:srgbClr val="FFFFFF"/>
                </a:solidFill>
                <a:latin typeface="Times New Roman"/>
                <a:ea typeface="DejaVu Sans"/>
              </a:rPr>
              <a:t>.</a:t>
            </a:r>
            <a:br>
              <a:rPr sz="2800"/>
            </a:br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Box 1"/>
          <p:cNvSpPr/>
          <p:nvPr/>
        </p:nvSpPr>
        <p:spPr>
          <a:xfrm>
            <a:off x="1518081" y="319680"/>
            <a:ext cx="9268287" cy="52615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l-GR" sz="48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 </a:t>
            </a:r>
            <a:r>
              <a:rPr lang="el-GR" sz="4800" b="0" strike="noStrike" spc="-1" baseline="30000" dirty="0">
                <a:solidFill>
                  <a:srgbClr val="C00000"/>
                </a:solidFill>
                <a:latin typeface="Times New Roman"/>
                <a:ea typeface="DejaVu Sans"/>
              </a:rPr>
              <a:t>2ο μέρος:</a:t>
            </a:r>
            <a:r>
              <a:rPr lang="el-GR" sz="4800" b="0" strike="noStrike" spc="-1" baseline="30000" dirty="0">
                <a:solidFill>
                  <a:srgbClr val="FFFFFF"/>
                </a:solidFill>
                <a:latin typeface="Times New Roman"/>
                <a:ea typeface="DejaVu Sans"/>
              </a:rPr>
              <a:t>  </a:t>
            </a:r>
            <a:r>
              <a:rPr lang="el-GR" sz="48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 Θα μπορούσε το ηλεκτρικό ρεύμα να υπερπηδήσει το εμπόδιο του αδι</a:t>
            </a:r>
            <a:r>
              <a:rPr lang="el-GR" sz="4800" spc="-1" dirty="0">
                <a:solidFill>
                  <a:srgbClr val="FFFFFF"/>
                </a:solidFill>
                <a:latin typeface="Times New Roman"/>
                <a:ea typeface="DejaVu Sans"/>
              </a:rPr>
              <a:t>ε</a:t>
            </a:r>
            <a:r>
              <a:rPr lang="el-GR" sz="48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ξόδου;                                  ΝΑΙ   </a:t>
            </a:r>
            <a:r>
              <a:rPr lang="el-GR" sz="4800" b="0" strike="noStrike" spc="-1" dirty="0">
                <a:solidFill>
                  <a:srgbClr val="FF0000"/>
                </a:solidFill>
                <a:latin typeface="Times New Roman"/>
                <a:ea typeface="DejaVu Sans"/>
              </a:rPr>
              <a:t>ΑΛΛΑ </a:t>
            </a:r>
            <a:r>
              <a:rPr lang="el-GR" sz="48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 ΜΟΝΟ ΣΤΟ ΕΝΑΛΛΑΣΣΟΜΕΝΟ ΗΛΕΚΤΡΙΚΟ ΡΕΥΜΑ                    ΣΤΗΝ ΣΥΝΕΧΕΙΑ Ο ΤΡΟΠΟΣ   </a:t>
            </a:r>
            <a:endParaRPr lang="el-GR" sz="4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1"/>
          <p:cNvSpPr/>
          <p:nvPr/>
        </p:nvSpPr>
        <p:spPr>
          <a:xfrm>
            <a:off x="241539" y="0"/>
            <a:ext cx="1066750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l-GR" sz="2800" b="0" strike="noStrike" spc="-1" dirty="0">
                <a:solidFill>
                  <a:srgbClr val="FFFFFF"/>
                </a:solidFill>
                <a:latin typeface="Tw Cen MT"/>
                <a:ea typeface="DejaVu Sans"/>
              </a:rPr>
              <a:t>Στη συνέχεια εισάγεται η έννοια της ηλεκτρομαγνητικής επαγωγής που εδώ ονομάζεται και αμοιβαία επαγωγή. </a:t>
            </a:r>
            <a:endParaRPr lang="el-G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1" name="Picture 3"/>
          <p:cNvPicPr/>
          <p:nvPr/>
        </p:nvPicPr>
        <p:blipFill>
          <a:blip r:embed="rId2"/>
          <a:stretch/>
        </p:blipFill>
        <p:spPr>
          <a:xfrm>
            <a:off x="2843580" y="1005887"/>
            <a:ext cx="6504840" cy="4390200"/>
          </a:xfrm>
          <a:prstGeom prst="rect">
            <a:avLst/>
          </a:prstGeom>
          <a:ln w="0">
            <a:noFill/>
          </a:ln>
        </p:spPr>
      </p:pic>
      <p:pic>
        <p:nvPicPr>
          <p:cNvPr id="232" name="Picture 6"/>
          <p:cNvPicPr/>
          <p:nvPr/>
        </p:nvPicPr>
        <p:blipFill>
          <a:blip r:embed="rId3"/>
          <a:stretch/>
        </p:blipFill>
        <p:spPr>
          <a:xfrm>
            <a:off x="4806014" y="5396087"/>
            <a:ext cx="2993760" cy="1167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Box 1"/>
          <p:cNvSpPr/>
          <p:nvPr/>
        </p:nvSpPr>
        <p:spPr>
          <a:xfrm>
            <a:off x="1127160" y="6480"/>
            <a:ext cx="822888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l-GR" sz="2800" b="1" strike="noStrike" spc="-1">
                <a:solidFill>
                  <a:srgbClr val="FF0000"/>
                </a:solidFill>
                <a:latin typeface="Times New Roman"/>
                <a:ea typeface="DejaVu Sans"/>
              </a:rPr>
              <a:t>Κύκλωμα </a:t>
            </a:r>
            <a:r>
              <a:rPr lang="en-GB" sz="2800" b="1" strike="noStrike" spc="-1">
                <a:solidFill>
                  <a:srgbClr val="FF0000"/>
                </a:solidFill>
                <a:latin typeface="Times New Roman"/>
                <a:ea typeface="DejaVu Sans"/>
              </a:rPr>
              <a:t>LC</a:t>
            </a:r>
            <a:r>
              <a:rPr lang="el-GR" sz="2800" b="1" strike="noStrike" spc="-1">
                <a:solidFill>
                  <a:srgbClr val="FF0000"/>
                </a:solidFill>
                <a:latin typeface="Times New Roman"/>
                <a:ea typeface="DejaVu Sans"/>
              </a:rPr>
              <a:t>   </a:t>
            </a:r>
            <a:endParaRPr lang="el-GR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4"/>
          <p:cNvSpPr/>
          <p:nvPr/>
        </p:nvSpPr>
        <p:spPr>
          <a:xfrm>
            <a:off x="1127160" y="352800"/>
            <a:ext cx="618732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l-GR" sz="24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Η συχνότητα του εναλλασσόμενου ρεύματος που δημιουργείται όταν</a:t>
            </a:r>
            <a:r>
              <a:rPr lang="el-GR" sz="2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*</a:t>
            </a:r>
            <a:r>
              <a:rPr lang="el-GR" sz="24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 δίνεται από την σχέση :</a:t>
            </a:r>
            <a:endParaRPr lang="el-GR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5" name="Picture 8"/>
          <p:cNvPicPr/>
          <p:nvPr/>
        </p:nvPicPr>
        <p:blipFill>
          <a:blip r:embed="rId2"/>
          <a:stretch/>
        </p:blipFill>
        <p:spPr>
          <a:xfrm>
            <a:off x="2485800" y="1108080"/>
            <a:ext cx="1676880" cy="701640"/>
          </a:xfrm>
          <a:prstGeom prst="rect">
            <a:avLst/>
          </a:prstGeom>
          <a:ln w="0">
            <a:noFill/>
          </a:ln>
        </p:spPr>
      </p:pic>
      <p:pic>
        <p:nvPicPr>
          <p:cNvPr id="236" name="Picture 10"/>
          <p:cNvPicPr/>
          <p:nvPr/>
        </p:nvPicPr>
        <p:blipFill>
          <a:blip r:embed="rId3"/>
          <a:stretch/>
        </p:blipFill>
        <p:spPr>
          <a:xfrm>
            <a:off x="1866960" y="2360520"/>
            <a:ext cx="6504840" cy="4390200"/>
          </a:xfrm>
          <a:prstGeom prst="rect">
            <a:avLst/>
          </a:prstGeom>
          <a:ln w="0">
            <a:noFill/>
          </a:ln>
        </p:spPr>
      </p:pic>
      <p:sp>
        <p:nvSpPr>
          <p:cNvPr id="237" name="TextBox 11"/>
          <p:cNvSpPr/>
          <p:nvPr/>
        </p:nvSpPr>
        <p:spPr>
          <a:xfrm>
            <a:off x="43920" y="1623600"/>
            <a:ext cx="9312120" cy="10757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l-GR" sz="2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*Τότε έχουμε καλύτερη ανταπόκριση </a:t>
            </a:r>
            <a:r>
              <a:rPr lang="el-GR" sz="36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*</a:t>
            </a:r>
            <a:r>
              <a:rPr lang="el-GR" sz="2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 =&gt;φωτεινότητα </a:t>
            </a:r>
            <a:r>
              <a:rPr lang="en-US" sz="2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led</a:t>
            </a:r>
            <a:endParaRPr lang="el-GR" sz="2800" b="1" strike="noStrike" spc="-1" dirty="0">
              <a:solidFill>
                <a:srgbClr val="000000"/>
              </a:solidFill>
              <a:latin typeface="Times New Roman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l-GR" sz="2800" b="1" spc="-1" dirty="0">
                <a:solidFill>
                  <a:srgbClr val="000000"/>
                </a:solidFill>
                <a:latin typeface="Times New Roman"/>
                <a:ea typeface="DejaVu Sans"/>
              </a:rPr>
              <a:t>συντονισμός</a:t>
            </a:r>
            <a:r>
              <a:rPr lang="en-US" sz="2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endParaRPr lang="el-G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12"/>
          <p:cNvSpPr/>
          <p:nvPr/>
        </p:nvSpPr>
        <p:spPr>
          <a:xfrm>
            <a:off x="9762480" y="952920"/>
            <a:ext cx="2103120" cy="20606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l-GR" sz="3200" b="0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*</a:t>
            </a:r>
            <a:r>
              <a:rPr lang="el-GR" sz="3200" b="1" u="sng" strike="noStrike" spc="-1" dirty="0">
                <a:latin typeface="Times New Roman"/>
                <a:ea typeface="DejaVu Sans"/>
              </a:rPr>
              <a:t>όλα λοιπον είναι θεμα χρόνου!</a:t>
            </a:r>
            <a:endParaRPr lang="el-GR" sz="3200" b="1" u="sng" strike="noStrike" spc="-1" dirty="0">
              <a:latin typeface="Arial"/>
            </a:endParaRPr>
          </a:p>
        </p:txBody>
      </p:sp>
      <p:sp>
        <p:nvSpPr>
          <p:cNvPr id="239" name="TextBox 2"/>
          <p:cNvSpPr/>
          <p:nvPr/>
        </p:nvSpPr>
        <p:spPr>
          <a:xfrm>
            <a:off x="8425800" y="113040"/>
            <a:ext cx="1508400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l-GR" sz="1800" b="1" strike="noStrike" spc="-1" dirty="0">
                <a:latin typeface="Tw Cen MT"/>
                <a:ea typeface="DejaVu Sans"/>
              </a:rPr>
              <a:t>και η αντίστοιχη περίοδος :</a:t>
            </a:r>
            <a:endParaRPr lang="el-GR" sz="1800" b="1" strike="noStrike" spc="-1" dirty="0">
              <a:latin typeface="Arial"/>
            </a:endParaRPr>
          </a:p>
        </p:txBody>
      </p:sp>
      <p:pic>
        <p:nvPicPr>
          <p:cNvPr id="240" name="Picture 5"/>
          <p:cNvPicPr/>
          <p:nvPr/>
        </p:nvPicPr>
        <p:blipFill>
          <a:blip r:embed="rId4"/>
          <a:stretch/>
        </p:blipFill>
        <p:spPr>
          <a:xfrm>
            <a:off x="9621000" y="529560"/>
            <a:ext cx="1607760" cy="4816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{E6DD4134-FE7F-4D07-99A5-AC648E4BE83E}TF6d5feb1e-e145-43f1-b745-cb4b54c5ee97f09717d9-52e1e9220ecc</Template>
  <TotalTime>448</TotalTime>
  <Words>238</Words>
  <Application>Microsoft Office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Symbol</vt:lpstr>
      <vt:lpstr>Times New Roman</vt:lpstr>
      <vt:lpstr>Tw Cen MT</vt:lpstr>
      <vt:lpstr>Wingdings</vt:lpstr>
      <vt:lpstr>Circuit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ΝΕΚΤΑΡΙΟΣ ΚΟΥΡΑΚΗΣ</dc:creator>
  <dc:description/>
  <cp:lastModifiedBy>ΝΕΚΤΑΡΙΟΣ ΚΟΥΡΑΚΗΣ</cp:lastModifiedBy>
  <cp:revision>35</cp:revision>
  <dcterms:created xsi:type="dcterms:W3CDTF">2026-03-24T16:25:19Z</dcterms:created>
  <dcterms:modified xsi:type="dcterms:W3CDTF">2026-05-08T19:53:26Z</dcterms:modified>
  <dc:language>el-GR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